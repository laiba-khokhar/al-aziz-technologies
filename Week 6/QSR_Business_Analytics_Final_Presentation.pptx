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63" d="100"/>
          <a:sy n="63" d="100"/>
        </p:scale>
        <p:origin x="78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47212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047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62204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06172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9690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1001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7692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94603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13026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85934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10391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8398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725704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739759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730796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300404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83101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3519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1828800"/>
            <a:ext cx="1069848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/>
            </a:pPr>
            <a:r>
              <a:t>QSR Business Analytics Dashboard</a:t>
            </a:r>
          </a:p>
          <a:p>
            <a:pPr algn="ctr">
              <a:defRPr sz="2200"/>
            </a:pPr>
            <a:r>
              <a:t>End-to-End Data Analytics Master Project</a:t>
            </a:r>
          </a:p>
          <a:p>
            <a:pPr algn="ctr">
              <a:defRPr sz="1600"/>
            </a:pPr>
            <a:r>
              <a:t>SQL • Python • Power Query • Power BI • DAX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4652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1. 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/>
            </a:pPr>
            <a:r>
              <a:t>Analyzed a synthetic Quick Service Restaurant (QSR) dataset containing 1,500 orders.</a:t>
            </a:r>
          </a:p>
          <a:p>
            <a:pPr>
              <a:spcAft>
                <a:spcPts val="1000"/>
              </a:spcAft>
              <a:defRPr sz="1900"/>
            </a:pPr>
            <a:r>
              <a:t>Built an end-to-end analytics workflow from data preparation to interactive dashboarding.</a:t>
            </a:r>
          </a:p>
          <a:p>
            <a:pPr>
              <a:spcAft>
                <a:spcPts val="1000"/>
              </a:spcAft>
              <a:defRPr sz="1900"/>
            </a:pPr>
            <a:r>
              <a:t>Used SQL for business analysis, Python/Pandas for EDA and statistical analysis, and Power BI for visualization.</a:t>
            </a:r>
          </a:p>
          <a:p>
            <a:pPr>
              <a:spcAft>
                <a:spcPts val="1000"/>
              </a:spcAft>
              <a:defRPr sz="1900"/>
            </a:pPr>
            <a:r>
              <a:t>Answered sales, product, branch, customer, delivery, and operational questions.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4652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2. Business Problem &amp;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/>
            </a:pPr>
            <a:r>
              <a:t>Business Problem</a:t>
            </a:r>
          </a:p>
          <a:p>
            <a:pPr lvl="1">
              <a:spcAft>
                <a:spcPts val="1000"/>
              </a:spcAft>
              <a:defRPr sz="1600"/>
            </a:pPr>
            <a:r>
              <a:t>Management needs a consolidated view of sales, profitability, branch performance, product performance, and delivery operations.</a:t>
            </a:r>
          </a:p>
          <a:p>
            <a:pPr>
              <a:spcAft>
                <a:spcPts val="1000"/>
              </a:spcAft>
              <a:defRPr sz="1900"/>
            </a:pPr>
            <a:r>
              <a:t>Objectives</a:t>
            </a:r>
          </a:p>
          <a:p>
            <a:pPr lvl="1">
              <a:spcAft>
                <a:spcPts val="1000"/>
              </a:spcAft>
              <a:defRPr sz="1600"/>
            </a:pPr>
            <a:r>
              <a:t>Track core KPIs and sales trends.</a:t>
            </a:r>
          </a:p>
          <a:p>
            <a:pPr lvl="1">
              <a:spcAft>
                <a:spcPts val="1000"/>
              </a:spcAft>
              <a:defRPr sz="1600"/>
            </a:pPr>
            <a:r>
              <a:t>Compare branch and product performance.</a:t>
            </a:r>
          </a:p>
          <a:p>
            <a:pPr lvl="1">
              <a:spcAft>
                <a:spcPts val="1000"/>
              </a:spcAft>
              <a:defRPr sz="1600"/>
            </a:pPr>
            <a:r>
              <a:t>Analyze delivery performance, complaints, and order accuracy.</a:t>
            </a:r>
          </a:p>
          <a:p>
            <a:pPr lvl="1">
              <a:spcAft>
                <a:spcPts val="1000"/>
              </a:spcAft>
              <a:defRPr sz="1600"/>
            </a:pPr>
            <a:r>
              <a:t>Provide an interactive dashboard for business monitoring.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4652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3. Dataset &amp; Data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/>
            </a:pPr>
            <a:r>
              <a:t>Fact_Orders contains 1,500 order-level records.</a:t>
            </a:r>
          </a:p>
          <a:p>
            <a:pPr>
              <a:spcAft>
                <a:spcPts val="1000"/>
              </a:spcAft>
              <a:defRPr sz="1900"/>
            </a:pPr>
            <a:r>
              <a:t>Dimension tables: Branch, Product, Customer, Rider, and Date.</a:t>
            </a:r>
          </a:p>
          <a:p>
            <a:pPr>
              <a:spcAft>
                <a:spcPts val="1000"/>
              </a:spcAft>
              <a:defRPr sz="1900"/>
            </a:pPr>
            <a:r>
              <a:t>Documentation tables include Data Dictionary and KPI Definitions.</a:t>
            </a:r>
          </a:p>
          <a:p>
            <a:pPr>
              <a:spcAft>
                <a:spcPts val="1000"/>
              </a:spcAft>
              <a:defRPr sz="1900"/>
            </a:pPr>
            <a:r>
              <a:t>Power BI uses a star-schema model with Fact_Orders as the central fact table.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4652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4. Data Cleaning &amp; Power Query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/>
            </a:pPr>
            <a:r>
              <a:t>Profiled the raw dataset and checked data quality.</a:t>
            </a:r>
          </a:p>
          <a:p>
            <a:pPr>
              <a:spcAft>
                <a:spcPts val="1000"/>
              </a:spcAft>
              <a:defRPr sz="1900"/>
            </a:pPr>
            <a:r>
              <a:t>Checked missing values and duplicate records.</a:t>
            </a:r>
          </a:p>
          <a:p>
            <a:pPr>
              <a:spcAft>
                <a:spcPts val="1000"/>
              </a:spcAft>
              <a:defRPr sz="1900"/>
            </a:pPr>
            <a:r>
              <a:t>Corrected data types and cleaned text fields.</a:t>
            </a:r>
          </a:p>
          <a:p>
            <a:pPr>
              <a:spcAft>
                <a:spcPts val="1000"/>
              </a:spcAft>
              <a:defRPr sz="1900"/>
            </a:pPr>
            <a:r>
              <a:t>Created Order Year, Order Month, Month Name, Day Name, Profit Margin, and Delivery Performance.</a:t>
            </a:r>
          </a:p>
          <a:p>
            <a:pPr>
              <a:spcAft>
                <a:spcPts val="1000"/>
              </a:spcAft>
              <a:defRPr sz="1900"/>
            </a:pPr>
            <a:r>
              <a:t>Validated the cleaned dataset before analysis.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4652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5. SQL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/>
            </a:pPr>
            <a:r>
              <a:t>Calculated Total Sales, Total Orders, Average Order Value, Total Profit, and Profit Margin.</a:t>
            </a:r>
          </a:p>
          <a:p>
            <a:pPr>
              <a:spcAft>
                <a:spcPts val="1000"/>
              </a:spcAft>
              <a:defRPr sz="1900"/>
            </a:pPr>
            <a:r>
              <a:t>Analyzed branch, product, category, customer, rider, and order-type performance.</a:t>
            </a:r>
          </a:p>
          <a:p>
            <a:pPr>
              <a:spcAft>
                <a:spcPts val="1000"/>
              </a:spcAft>
              <a:defRPr sz="1900"/>
            </a:pPr>
            <a:r>
              <a:t>Analyzed monthly sales trends, delivery performance, complaints, and order accuracy.</a:t>
            </a:r>
          </a:p>
          <a:p>
            <a:pPr>
              <a:spcAft>
                <a:spcPts val="1000"/>
              </a:spcAft>
              <a:defRPr sz="1900"/>
            </a:pPr>
            <a:r>
              <a:t>Performed data-validation checks for missing IDs, invalid quantities, formulas, and duplicates.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4652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6. Python &amp; Exploratory Data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/>
            </a:pPr>
            <a:r>
              <a:t>Used Pandas and NumPy for profiling and analytical preparation.</a:t>
            </a:r>
          </a:p>
          <a:p>
            <a:pPr>
              <a:spcAft>
                <a:spcPts val="1000"/>
              </a:spcAft>
              <a:defRPr sz="1900"/>
            </a:pPr>
            <a:r>
              <a:t>Performed branch, product, and monthly sales analysis.</a:t>
            </a:r>
          </a:p>
          <a:p>
            <a:pPr>
              <a:spcAft>
                <a:spcPts val="1000"/>
              </a:spcAft>
              <a:defRPr sz="1900"/>
            </a:pPr>
            <a:r>
              <a:t>Created visualizations for monthly sales and product performance.</a:t>
            </a:r>
          </a:p>
          <a:p>
            <a:pPr>
              <a:spcAft>
                <a:spcPts val="1000"/>
              </a:spcAft>
              <a:defRPr sz="1900"/>
            </a:pPr>
            <a:r>
              <a:t>Performed correlation analysis and a Welch t-test comparing delivery and non-delivery order sales.</a:t>
            </a:r>
          </a:p>
          <a:p>
            <a:pPr>
              <a:spcAft>
                <a:spcPts val="1000"/>
              </a:spcAft>
              <a:defRPr sz="1900"/>
            </a:pPr>
            <a:r>
              <a:t>Created an Order Value Segment feature.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4652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7. Power BI Model &amp; DAX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/>
            </a:pPr>
            <a:r>
              <a:t>Built a star-schema data model with a dedicated Date table.</a:t>
            </a:r>
          </a:p>
          <a:p>
            <a:pPr>
              <a:spcAft>
                <a:spcPts val="1000"/>
              </a:spcAft>
              <a:defRPr sz="1900"/>
            </a:pPr>
            <a:r>
              <a:t>Created DAX measures for sales, orders, AOV, profit, margin, complaints, accuracy, delivery orders, and discounts.</a:t>
            </a:r>
          </a:p>
          <a:p>
            <a:pPr>
              <a:spcAft>
                <a:spcPts val="1000"/>
              </a:spcAft>
              <a:defRPr sz="1900"/>
            </a:pPr>
            <a:r>
              <a:t>Added Previous Month Sales, MoM Growth %, and YTD Sales.</a:t>
            </a:r>
          </a:p>
          <a:p>
            <a:pPr>
              <a:spcAft>
                <a:spcPts val="1000"/>
              </a:spcAft>
              <a:defRPr sz="1900"/>
            </a:pPr>
            <a:r>
              <a:t>Implemented slicers, drill-through, and a product tooltip.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4652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8. Dashboard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/>
            </a:pPr>
            <a:r>
              <a:t>01 Executive Overview — KPIs, trends, city, product, order type, and payment analysis.</a:t>
            </a:r>
          </a:p>
          <a:p>
            <a:pPr>
              <a:spcAft>
                <a:spcPts val="1000"/>
              </a:spcAft>
              <a:defRPr sz="1900"/>
            </a:pPr>
            <a:r>
              <a:t>02 Product Analysis — product/category sales and profit.</a:t>
            </a:r>
          </a:p>
          <a:p>
            <a:pPr>
              <a:spcAft>
                <a:spcPts val="1000"/>
              </a:spcAft>
              <a:defRPr sz="1900"/>
            </a:pPr>
            <a:r>
              <a:t>03 Branch Performance — city and branch comparisons.</a:t>
            </a:r>
          </a:p>
          <a:p>
            <a:pPr>
              <a:spcAft>
                <a:spcPts val="1000"/>
              </a:spcAft>
              <a:defRPr sz="1900"/>
            </a:pPr>
            <a:r>
              <a:t>04 Operations &amp; Delivery — accuracy, complaints, delivery volume, and performance.</a:t>
            </a:r>
          </a:p>
          <a:p>
            <a:pPr>
              <a:spcAft>
                <a:spcPts val="1000"/>
              </a:spcAft>
              <a:defRPr sz="1900"/>
            </a:pPr>
            <a:r>
              <a:t>05 Branch Details — drill-through analysis.</a:t>
            </a:r>
          </a:p>
          <a:p>
            <a:pPr>
              <a:spcAft>
                <a:spcPts val="1000"/>
              </a:spcAft>
              <a:defRPr sz="1900"/>
            </a:pPr>
            <a:r>
              <a:t>Product Tooltip — product-level KPI details.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4652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10. Major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/>
            </a:pPr>
            <a:r>
              <a:t>The dataset contains 1,500 orders, generating approximately $889.37K in sales and $482.68K in profit.</a:t>
            </a:r>
          </a:p>
          <a:p>
            <a:pPr>
              <a:spcAft>
                <a:spcPts val="1000"/>
              </a:spcAft>
              <a:defRPr sz="1900"/>
            </a:pPr>
            <a:r>
              <a:t>Lahore generated approximately $466.22K in sales from 758 orders.</a:t>
            </a:r>
          </a:p>
          <a:p>
            <a:pPr>
              <a:spcAft>
                <a:spcPts val="1000"/>
              </a:spcAft>
              <a:defRPr sz="1900"/>
            </a:pPr>
            <a:r>
              <a:t>Within Lahore, Johar Town generated higher sales than DHA.</a:t>
            </a:r>
          </a:p>
          <a:p>
            <a:pPr>
              <a:spcAft>
                <a:spcPts val="1000"/>
              </a:spcAft>
              <a:defRPr sz="1900"/>
            </a:pPr>
            <a:r>
              <a:t>Beef Burger generated approximately $162.14K in sales and $77.83K in profit.</a:t>
            </a:r>
          </a:p>
          <a:p>
            <a:pPr>
              <a:spcAft>
                <a:spcPts val="1000"/>
              </a:spcAft>
              <a:defRPr sz="1900"/>
            </a:pPr>
            <a:r>
              <a:t>Burgers were the highest-performing product category by sales.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4652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11. Operations &amp; Patterns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/>
            </a:pPr>
            <a:r>
              <a:t>There were 562 delivery orders.</a:t>
            </a:r>
          </a:p>
          <a:p>
            <a:pPr>
              <a:spcAft>
                <a:spcPts val="1000"/>
              </a:spcAft>
              <a:defRPr sz="1900"/>
            </a:pPr>
            <a:r>
              <a:t>Delivery performance: 333 Moderate, 198 Fast, and 31 Slow.</a:t>
            </a:r>
          </a:p>
          <a:p>
            <a:pPr>
              <a:spcAft>
                <a:spcPts val="1000"/>
              </a:spcAft>
              <a:defRPr sz="1900"/>
            </a:pPr>
            <a:r>
              <a:t>Overall order accuracy was 93.69%.</a:t>
            </a:r>
          </a:p>
          <a:p>
            <a:pPr>
              <a:spcAft>
                <a:spcPts val="1000"/>
              </a:spcAft>
              <a:defRPr sz="1900"/>
            </a:pPr>
            <a:r>
              <a:t>The dashboard recorded a 30.53% complaint rate.</a:t>
            </a:r>
          </a:p>
          <a:p>
            <a:pPr>
              <a:spcAft>
                <a:spcPts val="1000"/>
              </a:spcAft>
              <a:defRPr sz="1900"/>
            </a:pPr>
            <a:r>
              <a:t>Lahore had 231 complaints; branch-level complaint rates should be considered alongside order volume.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4652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12. Business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/>
            </a:pPr>
            <a:r>
              <a:t>Investigate Moderate delivery orders to identify causes of slower service.</a:t>
            </a:r>
          </a:p>
          <a:p>
            <a:pPr>
              <a:spcAft>
                <a:spcPts val="1000"/>
              </a:spcAft>
              <a:defRPr sz="1900"/>
            </a:pPr>
            <a:r>
              <a:t>Analyze complaint rates at branch level rather than relying only on total complaint counts.</a:t>
            </a:r>
          </a:p>
          <a:p>
            <a:pPr>
              <a:spcAft>
                <a:spcPts val="1000"/>
              </a:spcAft>
              <a:defRPr sz="1900"/>
            </a:pPr>
            <a:r>
              <a:t>Maintain availability of high-performing products such as Beef Burger.</a:t>
            </a:r>
          </a:p>
          <a:p>
            <a:pPr>
              <a:spcAft>
                <a:spcPts val="1000"/>
              </a:spcAft>
              <a:defRPr sz="1900"/>
            </a:pPr>
            <a:r>
              <a:t>Review lower-performing products for pricing, promotion, and menu positioning.</a:t>
            </a:r>
          </a:p>
          <a:p>
            <a:pPr>
              <a:spcAft>
                <a:spcPts val="1000"/>
              </a:spcAft>
              <a:defRPr sz="1900"/>
            </a:pPr>
            <a:r>
              <a:t>Compare branch practices to identify approaches that can improve performance across locations.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4652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13. Challenges &amp; Solutions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/>
            </a:pPr>
            <a:r>
              <a:t>Challenge: Maintaining consistency across Excel, SQL, Python, and Power BI.</a:t>
            </a:r>
          </a:p>
          <a:p>
            <a:pPr lvl="1">
              <a:spcAft>
                <a:spcPts val="1000"/>
              </a:spcAft>
              <a:defRPr sz="1600"/>
            </a:pPr>
            <a:r>
              <a:t>Solution: Created a cleaned analytical dataset and cross-checked key metrics.</a:t>
            </a:r>
          </a:p>
          <a:p>
            <a:pPr>
              <a:spcAft>
                <a:spcPts val="1000"/>
              </a:spcAft>
              <a:defRPr sz="1900"/>
            </a:pPr>
            <a:r>
              <a:t>Challenge: Reliable time-based analysis.</a:t>
            </a:r>
          </a:p>
          <a:p>
            <a:pPr lvl="1">
              <a:spcAft>
                <a:spcPts val="1000"/>
              </a:spcAft>
              <a:defRPr sz="1600"/>
            </a:pPr>
            <a:r>
              <a:t>Solution: Created a dedicated Date table and Month-Year sorting.</a:t>
            </a:r>
          </a:p>
          <a:p>
            <a:pPr>
              <a:spcAft>
                <a:spcPts val="1000"/>
              </a:spcAft>
              <a:defRPr sz="1900"/>
            </a:pPr>
            <a:r>
              <a:t>Challenge: Overview plus detailed dashboard analysis.</a:t>
            </a:r>
          </a:p>
          <a:p>
            <a:pPr lvl="1">
              <a:spcAft>
                <a:spcPts val="1000"/>
              </a:spcAft>
              <a:defRPr sz="1600"/>
            </a:pPr>
            <a:r>
              <a:t>Solution: Added slicers, drill-through, and product tooltip functionality.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4652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14. Final Demonstration &amp; Future Improvements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/>
            </a:pPr>
            <a:r>
              <a:t>Live Demo: Executive Overview → Product Analysis → Branch Performance → Operations &amp; Delivery.</a:t>
            </a:r>
          </a:p>
          <a:p>
            <a:pPr lvl="1">
              <a:spcAft>
                <a:spcPts val="1000"/>
              </a:spcAft>
              <a:defRPr sz="1600"/>
            </a:pPr>
            <a:r>
              <a:t>Demonstrate city filtering, Branch Details drill-through, and Product Tooltip.</a:t>
            </a:r>
          </a:p>
          <a:p>
            <a:pPr>
              <a:spcAft>
                <a:spcPts val="1000"/>
              </a:spcAft>
              <a:defRPr sz="1900"/>
            </a:pPr>
            <a:r>
              <a:t>Future: connect to regularly updated data, add customer segmentation and sales forecasting.</a:t>
            </a:r>
          </a:p>
          <a:p>
            <a:pPr lvl="1">
              <a:spcAft>
                <a:spcPts val="1000"/>
              </a:spcAft>
              <a:defRPr sz="1600"/>
            </a:pPr>
            <a:r>
              <a:t>Future: expand anomaly detection, retention analysis, and operational KPIs.</a:t>
            </a:r>
          </a:p>
          <a:p>
            <a:pPr>
              <a:spcAft>
                <a:spcPts val="1000"/>
              </a:spcAft>
              <a:defRPr sz="1900"/>
            </a:pPr>
            <a:r>
              <a:t>Final deliverables: Power BI dashboard, SQL analysis, Python analysis, cleaned dataset, documentation, and GitHub repository.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4652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9. Key KPIs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17320"/>
            <a:ext cx="2148840" cy="11887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/>
            </a:pPr>
            <a:r>
              <a:t>$889.37K</a:t>
            </a:r>
          </a:p>
          <a:p>
            <a:pPr algn="ctr">
              <a:defRPr sz="1100"/>
            </a:pPr>
            <a:r>
              <a:t>Total Sales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63240" y="1417320"/>
            <a:ext cx="2148840" cy="11887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/>
            </a:pPr>
            <a:r>
              <a:t>1,500</a:t>
            </a:r>
          </a:p>
          <a:p>
            <a:pPr algn="ctr">
              <a:defRPr sz="1100"/>
            </a:pPr>
            <a:r>
              <a:t>Total Orders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394960" y="1417320"/>
            <a:ext cx="2148840" cy="11887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/>
            </a:pPr>
            <a:r>
              <a:t>$592.91</a:t>
            </a:r>
          </a:p>
          <a:p>
            <a:pPr algn="ctr">
              <a:defRPr sz="1100"/>
            </a:pPr>
            <a:r>
              <a:t>Average Order Value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26679" y="1417320"/>
            <a:ext cx="2148840" cy="11887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/>
            </a:pPr>
            <a:r>
              <a:t>$482.68K</a:t>
            </a:r>
          </a:p>
          <a:p>
            <a:pPr algn="ctr">
              <a:defRPr sz="1100"/>
            </a:pPr>
            <a:r>
              <a:t>Total Profit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70280" y="2932936"/>
            <a:ext cx="2148840" cy="11887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/>
            </a:pPr>
            <a:r>
              <a:t>54.27%</a:t>
            </a:r>
          </a:p>
          <a:p>
            <a:pPr algn="ctr">
              <a:defRPr sz="1100"/>
            </a:pPr>
            <a:r>
              <a:t>Profit Margin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93441" y="2888744"/>
            <a:ext cx="2148840" cy="11887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/>
            </a:pPr>
            <a:r>
              <a:rPr dirty="0"/>
              <a:t>93.69%</a:t>
            </a:r>
          </a:p>
          <a:p>
            <a:pPr algn="ctr">
              <a:defRPr sz="1100"/>
            </a:pPr>
            <a:r>
              <a:rPr dirty="0"/>
              <a:t>Order Accuracy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0" y="1417320"/>
            <a:ext cx="2148840" cy="11887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/>
            </a:pPr>
            <a:r>
              <a:t>562</a:t>
            </a:r>
          </a:p>
          <a:p>
            <a:pPr algn="ctr">
              <a:defRPr sz="1100"/>
            </a:pPr>
            <a:r>
              <a:t>Delivery Orders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2800" y="3810000"/>
            <a:ext cx="10800080" cy="175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/>
            </a:pPr>
            <a:endParaRPr lang="en-US" dirty="0"/>
          </a:p>
          <a:p>
            <a:pPr>
              <a:spcAft>
                <a:spcPts val="1000"/>
              </a:spcAft>
              <a:defRPr sz="1500"/>
            </a:pPr>
            <a:endParaRPr lang="en-US" dirty="0"/>
          </a:p>
          <a:p>
            <a:pPr>
              <a:spcAft>
                <a:spcPts val="1000"/>
              </a:spcAft>
              <a:defRPr sz="1500"/>
            </a:pPr>
            <a:endParaRPr lang="en-US" dirty="0"/>
          </a:p>
          <a:p>
            <a:pPr>
              <a:spcAft>
                <a:spcPts val="1000"/>
              </a:spcAft>
              <a:defRPr sz="1500"/>
            </a:pPr>
            <a:r>
              <a:rPr dirty="0"/>
              <a:t>Complaint Rate: 30.53%</a:t>
            </a:r>
          </a:p>
          <a:p>
            <a:pPr>
              <a:spcAft>
                <a:spcPts val="1000"/>
              </a:spcAft>
              <a:defRPr sz="1500"/>
            </a:pPr>
            <a:r>
              <a:rPr dirty="0"/>
              <a:t>Delivery performance: 333 Moderate, 198 Fast, 31 Slow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4652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11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721252" y="2194560"/>
            <a:ext cx="2719014" cy="10156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/>
            </a:pPr>
            <a:r>
              <a:rPr dirty="0"/>
              <a:t>Thank You</a:t>
            </a:r>
          </a:p>
          <a:p>
            <a:pPr algn="ctr">
              <a:defRPr sz="2200"/>
            </a:pPr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972800" y="644652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16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4</TotalTime>
  <Words>921</Words>
  <Application>Microsoft Office PowerPoint</Application>
  <PresentationFormat>Widescreen</PresentationFormat>
  <Paragraphs>118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Century Gothic</vt:lpstr>
      <vt:lpstr>Wingdings 3</vt:lpstr>
      <vt:lpstr>Ion Boardroom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laiba zahid</cp:lastModifiedBy>
  <cp:revision>3</cp:revision>
  <dcterms:created xsi:type="dcterms:W3CDTF">2013-01-27T09:14:16Z</dcterms:created>
  <dcterms:modified xsi:type="dcterms:W3CDTF">2026-09-29T11:15:36Z</dcterms:modified>
  <cp:category/>
</cp:coreProperties>
</file>